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FFB9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SFEIR · NOTE COMEX · SEPTEMBRE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783080"/>
            <a:ext cx="7315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Industrialiser</a:t>
            </a:r>
            <a:endParaRPr lang="en-US" sz="5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le vibe coding</a:t>
            </a:r>
            <a:pPr indent="0" marL="0">
              <a:lnSpc>
                <a:spcPct val="102000"/>
              </a:lnSpc>
              <a:buNone/>
            </a:pPr>
            <a:r>
              <a:rPr lang="en-US" sz="5200" b="1" dirty="0">
                <a:solidFill>
                  <a:srgbClr val="FFB95C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.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3547872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1F1F1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Vibe Guard · agent d'audit et de remédiation natif Google Cloud,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1F1F1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packagé pour la Marketplace et la Gemini Enterprise App du client.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0" y="404164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1F1F1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COMEX SFEIR · 18.09.2026</a:t>
            </a:r>
            <a:endParaRPr lang="en-US" sz="1100" dirty="0"/>
          </a:p>
          <a:p>
            <a:pPr algn="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1F1F1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CTO &amp; ED · Alliances &amp; Partenariats</a:t>
            </a:r>
            <a:endParaRPr lang="en-US" sz="1100" dirty="0"/>
          </a:p>
        </p:txBody>
      </p:sp>
      <p:pic>
        <p:nvPicPr>
          <p:cNvPr id="6" name="Image 0" descr="/Users/baptistepirault/.claude/skills/sfeir-brand-guidelines/assets/logo-sfeir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09160"/>
            <a:ext cx="548640" cy="182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63840" y="4718304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84756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 / 18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8454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— DÉROULÉ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1B1B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Quatre temps, trois arbitrages</a:t>
            </a:r>
            <a:pPr indent="0" marL="0">
              <a:buNone/>
            </a:pPr>
            <a:r>
              <a:rPr lang="en-US" sz="2600" b="1" dirty="0">
                <a:solidFill>
                  <a:srgbClr val="8454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72768"/>
            <a:ext cx="8229600" cy="10973"/>
          </a:xfrm>
          <a:prstGeom prst="rect">
            <a:avLst/>
          </a:prstGeom>
          <a:solidFill>
            <a:srgbClr val="DADADA"/>
          </a:solidFill>
          <a:ln/>
        </p:spPr>
      </p:sp>
      <p:pic>
        <p:nvPicPr>
          <p:cNvPr id="5" name="Image 0" descr="/Users/baptistepirault/.claude/skills/sfeir-brand-guidelines/assets/logo-sfeir-gr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09160"/>
            <a:ext cx="548640" cy="182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863840" y="4718304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51453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 / 18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2011680"/>
            <a:ext cx="822960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658368" y="209397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8454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280160" y="209397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1B1B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Le marché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035040" y="21031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spc="120" kern="0" dirty="0">
                <a:solidFill>
                  <a:srgbClr val="51453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CONSTAT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57200" y="2377440"/>
            <a:ext cx="8229600" cy="329184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2" name="Text 9"/>
          <p:cNvSpPr/>
          <p:nvPr/>
        </p:nvSpPr>
        <p:spPr>
          <a:xfrm>
            <a:off x="658368" y="245973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8454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280160" y="245973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1B1B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L'actif Vibe Guard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035040" y="24688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spc="120" kern="0" dirty="0">
                <a:solidFill>
                  <a:srgbClr val="51453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PRODUIT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2743200"/>
            <a:ext cx="822960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658368" y="282549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8454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280160" y="282549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1B1B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Le modèle économique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035040" y="28346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spc="120" kern="0" dirty="0">
                <a:solidFill>
                  <a:srgbClr val="51453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REVENUS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57200" y="3108960"/>
            <a:ext cx="8229600" cy="329184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20" name="Text 17"/>
          <p:cNvSpPr/>
          <p:nvPr/>
        </p:nvSpPr>
        <p:spPr>
          <a:xfrm>
            <a:off x="658368" y="31912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8454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280160" y="319125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1B1B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Exécution et risques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035040" y="320040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spc="120" kern="0" dirty="0">
                <a:solidFill>
                  <a:srgbClr val="51453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PLAN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57200" y="3474720"/>
            <a:ext cx="8229600" cy="32918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4" name="Text 21"/>
          <p:cNvSpPr/>
          <p:nvPr/>
        </p:nvSpPr>
        <p:spPr>
          <a:xfrm>
            <a:off x="658368" y="35570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8454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—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280160" y="355701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1B1B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Décisions soumises au vote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035040" y="356616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spc="120" kern="0" dirty="0">
                <a:solidFill>
                  <a:srgbClr val="51453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ARBITRAGE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457200" y="3931920"/>
            <a:ext cx="8229600" cy="62179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8" name="Text 25"/>
          <p:cNvSpPr/>
          <p:nvPr/>
        </p:nvSpPr>
        <p:spPr>
          <a:xfrm>
            <a:off x="658368" y="4032504"/>
            <a:ext cx="7827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FFB9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OBJET DE LA SÉANCE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658368" y="4242816"/>
            <a:ext cx="7827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1F1F1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Valider le lancement commercial, la distribution Marketplace et l'enablement d'octobre.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66928"/>
            <a:ext cx="365760" cy="13716"/>
          </a:xfrm>
          <a:prstGeom prst="rect">
            <a:avLst/>
          </a:prstGeom>
          <a:solidFill>
            <a:srgbClr val="FFB95C"/>
          </a:solidFill>
          <a:ln/>
        </p:spPr>
      </p:sp>
      <p:sp>
        <p:nvSpPr>
          <p:cNvPr id="3" name="Text 1"/>
          <p:cNvSpPr/>
          <p:nvPr/>
        </p:nvSpPr>
        <p:spPr>
          <a:xfrm>
            <a:off x="932688" y="4846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80" kern="0" dirty="0">
                <a:solidFill>
                  <a:srgbClr val="FFB9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— 01 · LE MARCHÉ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La fin de la rente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de développement</a:t>
            </a:r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B95C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Prototyper prend désormais quelques heures. Mettre en production reste un métier, et c'est le nôtre.</a:t>
            </a:r>
            <a:endParaRPr lang="en-US" sz="1400" dirty="0"/>
          </a:p>
        </p:txBody>
      </p:sp>
      <p:pic>
        <p:nvPicPr>
          <p:cNvPr id="6" name="Image 0" descr="/Users/baptistepirault/.claude/skills/sfeir-brand-guidelines/assets/logo-sfeir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09160"/>
            <a:ext cx="548640" cy="182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63840" y="4718304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84756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 / 18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8454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— 01 · LE MARCHÉ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1B1B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Deux forces, une impasse</a:t>
            </a:r>
            <a:pPr indent="0" marL="0">
              <a:buNone/>
            </a:pPr>
            <a:r>
              <a:rPr lang="en-US" sz="2600" b="1" dirty="0">
                <a:solidFill>
                  <a:srgbClr val="8454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72768"/>
            <a:ext cx="8229600" cy="10973"/>
          </a:xfrm>
          <a:prstGeom prst="rect">
            <a:avLst/>
          </a:prstGeom>
          <a:solidFill>
            <a:srgbClr val="DADADA"/>
          </a:solidFill>
          <a:ln/>
        </p:spPr>
      </p:sp>
      <p:pic>
        <p:nvPicPr>
          <p:cNvPr id="5" name="Image 0" descr="/Users/baptistepirault/.claude/skills/sfeir-brand-guidelines/assets/logo-sfeir-gr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09160"/>
            <a:ext cx="548640" cy="182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863840" y="4718304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51453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 / 18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847088"/>
            <a:ext cx="3931920" cy="1115568"/>
          </a:xfrm>
          <a:prstGeom prst="rect">
            <a:avLst/>
          </a:prstGeom>
          <a:solidFill>
            <a:srgbClr val="E9DDFF"/>
          </a:solidFill>
          <a:ln/>
        </p:spPr>
      </p:sp>
      <p:sp>
        <p:nvSpPr>
          <p:cNvPr id="8" name="Shape 5"/>
          <p:cNvSpPr/>
          <p:nvPr/>
        </p:nvSpPr>
        <p:spPr>
          <a:xfrm>
            <a:off x="457200" y="1847088"/>
            <a:ext cx="36576" cy="1115568"/>
          </a:xfrm>
          <a:prstGeom prst="rect">
            <a:avLst/>
          </a:prstGeom>
          <a:solidFill>
            <a:srgbClr val="23005C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" y="1929384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20" kern="0" dirty="0">
                <a:solidFill>
                  <a:srgbClr val="2300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FORCE 01 · VÉLOCITÉ MÉTIER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594360" y="212140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B1B1B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Des prototypes en heures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94360" y="2340864"/>
            <a:ext cx="36576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14536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Cursor, Lovable, Bolt, v0 · les métiers livrent sans solliciter l'ingénierie centrale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754880" y="1847088"/>
            <a:ext cx="3931920" cy="1115568"/>
          </a:xfrm>
          <a:prstGeom prst="rect">
            <a:avLst/>
          </a:prstGeom>
          <a:solidFill>
            <a:srgbClr val="FFDAD6"/>
          </a:solidFill>
          <a:ln/>
        </p:spPr>
      </p:sp>
      <p:sp>
        <p:nvSpPr>
          <p:cNvPr id="13" name="Shape 10"/>
          <p:cNvSpPr/>
          <p:nvPr/>
        </p:nvSpPr>
        <p:spPr>
          <a:xfrm>
            <a:off x="4754880" y="1847088"/>
            <a:ext cx="36576" cy="1115568"/>
          </a:xfrm>
          <a:prstGeom prst="rect">
            <a:avLst/>
          </a:prstGeom>
          <a:solidFill>
            <a:srgbClr val="BA1A1A"/>
          </a:solidFill>
          <a:ln/>
        </p:spPr>
      </p:sp>
      <p:sp>
        <p:nvSpPr>
          <p:cNvPr id="14" name="Text 11"/>
          <p:cNvSpPr/>
          <p:nvPr/>
        </p:nvSpPr>
        <p:spPr>
          <a:xfrm>
            <a:off x="4892040" y="1929384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20" kern="0" dirty="0">
                <a:solidFill>
                  <a:srgbClr val="B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FORCE 02 · SÉCURITÉ SATURÉE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4892040" y="212140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B1B1B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15 à 25 h de revue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892040" y="2340864"/>
            <a:ext cx="36576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14536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par application, à la main · les équipes centrales n'ont pas la bande passante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2423160" y="3035808"/>
            <a:ext cx="868680" cy="310896"/>
          </a:xfrm>
          <a:prstGeom prst="line">
            <a:avLst/>
          </a:prstGeom>
          <a:noFill/>
          <a:ln w="15875">
            <a:solidFill>
              <a:srgbClr val="845400"/>
            </a:solidFill>
            <a:prstDash val="solid"/>
            <a:headEnd type="none"/>
            <a:tailEnd type="triangle"/>
          </a:ln>
        </p:spPr>
      </p:sp>
      <p:sp>
        <p:nvSpPr>
          <p:cNvPr id="18" name="Shape 15"/>
          <p:cNvSpPr/>
          <p:nvPr/>
        </p:nvSpPr>
        <p:spPr>
          <a:xfrm flipH="1">
            <a:off x="5852160" y="3035808"/>
            <a:ext cx="868680" cy="310896"/>
          </a:xfrm>
          <a:prstGeom prst="line">
            <a:avLst/>
          </a:prstGeom>
          <a:noFill/>
          <a:ln w="15875">
            <a:solidFill>
              <a:srgbClr val="845400"/>
            </a:solidFill>
            <a:prstDash val="solid"/>
            <a:headEnd type="none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1737360" y="3419856"/>
            <a:ext cx="5669280" cy="107899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0" name="Text 17"/>
          <p:cNvSpPr/>
          <p:nvPr/>
        </p:nvSpPr>
        <p:spPr>
          <a:xfrm>
            <a:off x="1938528" y="3520440"/>
            <a:ext cx="5266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FFB9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CONSÉQUENCE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938528" y="3730752"/>
            <a:ext cx="52669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85 % des applications générées par IA échouent à passer en production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938528" y="4242816"/>
            <a:ext cx="5266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1F1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Blocage CISO et SRE : secrets en clair, isolation réseau, authentification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8454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— 01 · LE MARCHÉ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1B1B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Trois postures face au Shadow AI</a:t>
            </a:r>
            <a:pPr indent="0" marL="0">
              <a:buNone/>
            </a:pPr>
            <a:r>
              <a:rPr lang="en-US" sz="2600" b="1" dirty="0">
                <a:solidFill>
                  <a:srgbClr val="8454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72768"/>
            <a:ext cx="8229600" cy="10973"/>
          </a:xfrm>
          <a:prstGeom prst="rect">
            <a:avLst/>
          </a:prstGeom>
          <a:solidFill>
            <a:srgbClr val="DADADA"/>
          </a:solidFill>
          <a:ln/>
        </p:spPr>
      </p:sp>
      <p:pic>
        <p:nvPicPr>
          <p:cNvPr id="5" name="Image 0" descr="/Users/baptistepirault/.claude/skills/sfeir-brand-guidelines/assets/logo-sfeir-gr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09160"/>
            <a:ext cx="548640" cy="182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863840" y="4718304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51453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 / 18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965960"/>
            <a:ext cx="2615184" cy="1207008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8" name="Shape 5"/>
          <p:cNvSpPr/>
          <p:nvPr/>
        </p:nvSpPr>
        <p:spPr>
          <a:xfrm>
            <a:off x="457200" y="1965960"/>
            <a:ext cx="36576" cy="1207008"/>
          </a:xfrm>
          <a:prstGeom prst="rect">
            <a:avLst/>
          </a:prstGeom>
          <a:solidFill>
            <a:srgbClr val="BA1A1A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" y="2048256"/>
            <a:ext cx="23408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20" kern="0" dirty="0">
                <a:solidFill>
                  <a:srgbClr val="B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POSTURE 01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594360" y="2240280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B1B1B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Interdire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94360" y="2459736"/>
            <a:ext cx="234086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14536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ressentiment des métiers, Shadow IT amplifié, prototypes hors radar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264408" y="1965960"/>
            <a:ext cx="2615184" cy="1207008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3" name="Shape 10"/>
          <p:cNvSpPr/>
          <p:nvPr/>
        </p:nvSpPr>
        <p:spPr>
          <a:xfrm>
            <a:off x="3264408" y="1965960"/>
            <a:ext cx="36576" cy="1207008"/>
          </a:xfrm>
          <a:prstGeom prst="rect">
            <a:avLst/>
          </a:prstGeom>
          <a:solidFill>
            <a:srgbClr val="BA1A1A"/>
          </a:solidFill>
          <a:ln/>
        </p:spPr>
      </p:sp>
      <p:sp>
        <p:nvSpPr>
          <p:cNvPr id="14" name="Text 11"/>
          <p:cNvSpPr/>
          <p:nvPr/>
        </p:nvSpPr>
        <p:spPr>
          <a:xfrm>
            <a:off x="3401568" y="2048256"/>
            <a:ext cx="23408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20" kern="0" dirty="0">
                <a:solidFill>
                  <a:srgbClr val="B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POSTURE 02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3401568" y="2240280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B1B1B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Laisser passer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401568" y="2459736"/>
            <a:ext cx="234086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14536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fuites de données, dérive des coûts d'API, exposition non maîtrisée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071616" y="1965960"/>
            <a:ext cx="2615184" cy="1207008"/>
          </a:xfrm>
          <a:prstGeom prst="rect">
            <a:avLst/>
          </a:prstGeom>
          <a:solidFill>
            <a:srgbClr val="C8F5D6"/>
          </a:solidFill>
          <a:ln/>
        </p:spPr>
      </p:sp>
      <p:sp>
        <p:nvSpPr>
          <p:cNvPr id="18" name="Shape 15"/>
          <p:cNvSpPr/>
          <p:nvPr/>
        </p:nvSpPr>
        <p:spPr>
          <a:xfrm>
            <a:off x="6071616" y="1965960"/>
            <a:ext cx="36576" cy="1207008"/>
          </a:xfrm>
          <a:prstGeom prst="rect">
            <a:avLst/>
          </a:prstGeom>
          <a:solidFill>
            <a:srgbClr val="0D5A2E"/>
          </a:solidFill>
          <a:ln/>
        </p:spPr>
      </p:sp>
      <p:sp>
        <p:nvSpPr>
          <p:cNvPr id="19" name="Text 16"/>
          <p:cNvSpPr/>
          <p:nvPr/>
        </p:nvSpPr>
        <p:spPr>
          <a:xfrm>
            <a:off x="6208776" y="2048256"/>
            <a:ext cx="23408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20" kern="0" dirty="0">
                <a:solidFill>
                  <a:srgbClr val="0D5A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POSTURE 03 · SFEIR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6208776" y="2240280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B1B1B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Industrialiser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208776" y="2459736"/>
            <a:ext cx="234086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14536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contrôle automatisé, remédiation livrée, mise en production gouvernée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57200" y="3657600"/>
            <a:ext cx="8229600" cy="8229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3" name="Text 20"/>
          <p:cNvSpPr/>
          <p:nvPr/>
        </p:nvSpPr>
        <p:spPr>
          <a:xfrm>
            <a:off x="658368" y="3758184"/>
            <a:ext cx="7827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FFB9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 POSITIONNEMENT SFEIR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58368" y="3968496"/>
            <a:ext cx="78272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1F1F1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Ni censeur ni spectateur : l'accélérateur qui rend le passage en production conforme par défaut.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66928"/>
            <a:ext cx="365760" cy="13716"/>
          </a:xfrm>
          <a:prstGeom prst="rect">
            <a:avLst/>
          </a:prstGeom>
          <a:solidFill>
            <a:srgbClr val="FFB95C"/>
          </a:solidFill>
          <a:ln/>
        </p:spPr>
      </p:sp>
      <p:sp>
        <p:nvSpPr>
          <p:cNvPr id="3" name="Text 1"/>
          <p:cNvSpPr/>
          <p:nvPr/>
        </p:nvSpPr>
        <p:spPr>
          <a:xfrm>
            <a:off x="932688" y="4846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80" kern="0" dirty="0">
                <a:solidFill>
                  <a:srgbClr val="FFB9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— 02 · L'ACTIF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Vibe Guard</a:t>
            </a:r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B95C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Un agent autonome d'audit et de remédiation, qui s'exécute dans le tenant Google Cloud du client.</a:t>
            </a:r>
            <a:endParaRPr lang="en-US" sz="1400" dirty="0"/>
          </a:p>
        </p:txBody>
      </p:sp>
      <p:pic>
        <p:nvPicPr>
          <p:cNvPr id="6" name="Image 0" descr="/Users/baptistepirault/.claude/skills/sfeir-brand-guidelines/assets/logo-sfeir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09160"/>
            <a:ext cx="548640" cy="182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63840" y="4718304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84756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 / 18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8454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— 02 · L'ACTIF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1B1B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Du dépôt au correctif, en une chaîne</a:t>
            </a:r>
            <a:pPr indent="0" marL="0">
              <a:buNone/>
            </a:pPr>
            <a:r>
              <a:rPr lang="en-US" sz="2600" b="1" dirty="0">
                <a:solidFill>
                  <a:srgbClr val="8454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72768"/>
            <a:ext cx="8229600" cy="10973"/>
          </a:xfrm>
          <a:prstGeom prst="rect">
            <a:avLst/>
          </a:prstGeom>
          <a:solidFill>
            <a:srgbClr val="DADADA"/>
          </a:solidFill>
          <a:ln/>
        </p:spPr>
      </p:sp>
      <p:pic>
        <p:nvPicPr>
          <p:cNvPr id="5" name="Image 0" descr="/Users/baptistepirault/.claude/skills/sfeir-brand-guidelines/assets/logo-sfeir-gr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09160"/>
            <a:ext cx="548640" cy="182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863840" y="4718304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51453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7 / 18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965960"/>
            <a:ext cx="1879092" cy="123444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8" name="Shape 5"/>
          <p:cNvSpPr/>
          <p:nvPr/>
        </p:nvSpPr>
        <p:spPr>
          <a:xfrm>
            <a:off x="457200" y="1965960"/>
            <a:ext cx="36576" cy="1234440"/>
          </a:xfrm>
          <a:prstGeom prst="rect">
            <a:avLst/>
          </a:prstGeom>
          <a:solidFill>
            <a:srgbClr val="845400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" y="2048256"/>
            <a:ext cx="16047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20" kern="0" dirty="0">
                <a:solidFill>
                  <a:srgbClr val="8454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 · INGESTION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594360" y="2240280"/>
            <a:ext cx="16047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B1B1B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Clone éphémère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94360" y="2459736"/>
            <a:ext cx="16047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14536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dépôt Git, clone jetable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94360" y="2953512"/>
            <a:ext cx="16047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0" kern="0" dirty="0">
                <a:solidFill>
                  <a:srgbClr val="8454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SHALLOW CLONE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377440" y="2583180"/>
            <a:ext cx="155448" cy="0"/>
          </a:xfrm>
          <a:prstGeom prst="line">
            <a:avLst/>
          </a:prstGeom>
          <a:noFill/>
          <a:ln w="15875">
            <a:solidFill>
              <a:srgbClr val="845400"/>
            </a:solidFill>
            <a:prstDash val="solid"/>
            <a:headEnd type="none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2574036" y="1965960"/>
            <a:ext cx="1879092" cy="123444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5" name="Shape 12"/>
          <p:cNvSpPr/>
          <p:nvPr/>
        </p:nvSpPr>
        <p:spPr>
          <a:xfrm>
            <a:off x="2574036" y="1965960"/>
            <a:ext cx="36576" cy="1234440"/>
          </a:xfrm>
          <a:prstGeom prst="rect">
            <a:avLst/>
          </a:prstGeom>
          <a:solidFill>
            <a:srgbClr val="845400"/>
          </a:solidFill>
          <a:ln/>
        </p:spPr>
      </p:sp>
      <p:sp>
        <p:nvSpPr>
          <p:cNvPr id="16" name="Text 13"/>
          <p:cNvSpPr/>
          <p:nvPr/>
        </p:nvSpPr>
        <p:spPr>
          <a:xfrm>
            <a:off x="2711196" y="2048256"/>
            <a:ext cx="16047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20" kern="0" dirty="0">
                <a:solidFill>
                  <a:srgbClr val="8454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 · DÉTECTION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2711196" y="2240280"/>
            <a:ext cx="16047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B1B1B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Règles SFEIR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2711196" y="2459736"/>
            <a:ext cx="16047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14536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Semgrep et Gitleaks, pack déterministe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711196" y="2953512"/>
            <a:ext cx="16047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0" kern="0" dirty="0">
                <a:solidFill>
                  <a:srgbClr val="8454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AUTH · SECRETS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494276" y="2583180"/>
            <a:ext cx="155448" cy="0"/>
          </a:xfrm>
          <a:prstGeom prst="line">
            <a:avLst/>
          </a:prstGeom>
          <a:noFill/>
          <a:ln w="15875">
            <a:solidFill>
              <a:srgbClr val="845400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4690872" y="1965960"/>
            <a:ext cx="1879092" cy="123444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22" name="Shape 19"/>
          <p:cNvSpPr/>
          <p:nvPr/>
        </p:nvSpPr>
        <p:spPr>
          <a:xfrm>
            <a:off x="4690872" y="1965960"/>
            <a:ext cx="36576" cy="1234440"/>
          </a:xfrm>
          <a:prstGeom prst="rect">
            <a:avLst/>
          </a:prstGeom>
          <a:solidFill>
            <a:srgbClr val="845400"/>
          </a:solidFill>
          <a:ln/>
        </p:spPr>
      </p:sp>
      <p:sp>
        <p:nvSpPr>
          <p:cNvPr id="23" name="Text 20"/>
          <p:cNvSpPr/>
          <p:nvPr/>
        </p:nvSpPr>
        <p:spPr>
          <a:xfrm>
            <a:off x="4828032" y="2048256"/>
            <a:ext cx="16047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20" kern="0" dirty="0">
                <a:solidFill>
                  <a:srgbClr val="8454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 · CONTEXTE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4828032" y="2240280"/>
            <a:ext cx="16047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B1B1B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Tri par Gemini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4828032" y="2459736"/>
            <a:ext cx="16047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14536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Gemini 3.8 Flash, faux positifs écartés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828032" y="2953512"/>
            <a:ext cx="16047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0" kern="0" dirty="0">
                <a:solidFill>
                  <a:srgbClr val="8454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NET-ISO · LLM-GOV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6611112" y="2583180"/>
            <a:ext cx="155448" cy="0"/>
          </a:xfrm>
          <a:prstGeom prst="line">
            <a:avLst/>
          </a:prstGeom>
          <a:noFill/>
          <a:ln w="15875">
            <a:solidFill>
              <a:srgbClr val="845400"/>
            </a:solidFill>
            <a:prstDash val="solid"/>
            <a:headEnd type="none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6807708" y="1965960"/>
            <a:ext cx="1879092" cy="123444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29" name="Shape 26"/>
          <p:cNvSpPr/>
          <p:nvPr/>
        </p:nvSpPr>
        <p:spPr>
          <a:xfrm>
            <a:off x="6807708" y="1965960"/>
            <a:ext cx="36576" cy="1234440"/>
          </a:xfrm>
          <a:prstGeom prst="rect">
            <a:avLst/>
          </a:prstGeom>
          <a:solidFill>
            <a:srgbClr val="845400"/>
          </a:solidFill>
          <a:ln/>
        </p:spPr>
      </p:sp>
      <p:sp>
        <p:nvSpPr>
          <p:cNvPr id="30" name="Text 27"/>
          <p:cNvSpPr/>
          <p:nvPr/>
        </p:nvSpPr>
        <p:spPr>
          <a:xfrm>
            <a:off x="6944868" y="2048256"/>
            <a:ext cx="16047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20" kern="0" dirty="0">
                <a:solidFill>
                  <a:srgbClr val="8454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 · REMÉDIATION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6944868" y="2240280"/>
            <a:ext cx="16047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B1B1B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Code à déployer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944868" y="2459736"/>
            <a:ext cx="16047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14536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Terraform, manifests Cloud Run, gcloud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6944868" y="2953512"/>
            <a:ext cx="16047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0" kern="0" dirty="0">
                <a:solidFill>
                  <a:srgbClr val="8454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TERRAFORM · GCLOUD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457200" y="3520440"/>
            <a:ext cx="8229600" cy="8686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5" name="Text 32"/>
          <p:cNvSpPr/>
          <p:nvPr/>
        </p:nvSpPr>
        <p:spPr>
          <a:xfrm>
            <a:off x="658368" y="3621024"/>
            <a:ext cx="7827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FFB9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ZERO-EGRESS · 15 SECONDES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658368" y="3831336"/>
            <a:ext cx="782726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1F1F1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Tout s'exécute dans le tenant GCP du client : aucun stockage, purge à chaque scan.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8454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— 02 · L'ACTIF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1B1B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Ce qu'un scanner classique ne fait pas</a:t>
            </a:r>
            <a:pPr indent="0" marL="0">
              <a:buNone/>
            </a:pPr>
            <a:r>
              <a:rPr lang="en-US" sz="2600" b="1" dirty="0">
                <a:solidFill>
                  <a:srgbClr val="8454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72768"/>
            <a:ext cx="8229600" cy="10973"/>
          </a:xfrm>
          <a:prstGeom prst="rect">
            <a:avLst/>
          </a:prstGeom>
          <a:solidFill>
            <a:srgbClr val="DADADA"/>
          </a:solidFill>
          <a:ln/>
        </p:spPr>
      </p:sp>
      <p:pic>
        <p:nvPicPr>
          <p:cNvPr id="5" name="Image 0" descr="/Users/baptistepirault/.claude/skills/sfeir-brand-guidelines/assets/logo-sfeir-gr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09160"/>
            <a:ext cx="548640" cy="182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863840" y="4718304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51453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 / 18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828800"/>
            <a:ext cx="8229600" cy="2560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5"/>
          <p:cNvSpPr/>
          <p:nvPr/>
        </p:nvSpPr>
        <p:spPr>
          <a:xfrm>
            <a:off x="621792" y="189280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FFB9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DIMENSION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587752" y="189280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FFB9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SCANNER TRADITIONNEL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468112" y="189280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FFB9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VIBE GUARD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57200" y="2084832"/>
            <a:ext cx="822960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621792" y="2167128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1B1B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Cible d'analyse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587752" y="2176272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14536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Vulnérabilités CVE et dépendances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468112" y="217627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1B1B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Failles propres au code généré par IA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57200" y="2395728"/>
            <a:ext cx="8229600" cy="310896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6" name="Text 13"/>
          <p:cNvSpPr/>
          <p:nvPr/>
        </p:nvSpPr>
        <p:spPr>
          <a:xfrm>
            <a:off x="621792" y="2478024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1B1B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Résultat fourni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587752" y="248716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14536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Rapport passif de 50 pages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468112" y="248716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1B1B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Terraform, Cloud Run et gcloud prêts à déployer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57200" y="2706624"/>
            <a:ext cx="822960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7"/>
          <p:cNvSpPr/>
          <p:nvPr/>
        </p:nvSpPr>
        <p:spPr>
          <a:xfrm>
            <a:off x="621792" y="278892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1B1B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Moteur IA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2587752" y="2798064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14536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Absent ou générique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468112" y="279806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1B1B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Gemini 3.8 Flash via Vertex AI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57200" y="3017520"/>
            <a:ext cx="8229600" cy="310896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24" name="Text 21"/>
          <p:cNvSpPr/>
          <p:nvPr/>
        </p:nvSpPr>
        <p:spPr>
          <a:xfrm>
            <a:off x="621792" y="3099816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1B1B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Canal utilisateur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2587752" y="3108960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14536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Console réservée aux experts SecOps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5468112" y="310896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1B1B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Conversationnel, dans la Gemini Enterprise App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457200" y="3328416"/>
            <a:ext cx="822960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5"/>
          <p:cNvSpPr/>
          <p:nvPr/>
        </p:nvSpPr>
        <p:spPr>
          <a:xfrm>
            <a:off x="621792" y="3410712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1B1B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Souveraineté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2587752" y="3419856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14536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Données envoyées sur un SaaS externe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5468112" y="341985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1B1B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Tenant GCP du client, scan éphémère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457200" y="3749040"/>
            <a:ext cx="8229600" cy="80467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2" name="Text 29"/>
          <p:cNvSpPr/>
          <p:nvPr/>
        </p:nvSpPr>
        <p:spPr>
          <a:xfrm>
            <a:off x="658368" y="3849624"/>
            <a:ext cx="7827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FFB9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CE QUI CHANGE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658368" y="4059936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1F1F1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Vibe Guard ne signale pas un défaut : il livre le code d'infrastructure qui le referme.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66928"/>
            <a:ext cx="365760" cy="13716"/>
          </a:xfrm>
          <a:prstGeom prst="rect">
            <a:avLst/>
          </a:prstGeom>
          <a:solidFill>
            <a:srgbClr val="FFB95C"/>
          </a:solidFill>
          <a:ln/>
        </p:spPr>
      </p:sp>
      <p:sp>
        <p:nvSpPr>
          <p:cNvPr id="3" name="Text 1"/>
          <p:cNvSpPr/>
          <p:nvPr/>
        </p:nvSpPr>
        <p:spPr>
          <a:xfrm>
            <a:off x="932688" y="4846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80" kern="0" dirty="0">
                <a:solidFill>
                  <a:srgbClr val="FFB9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— 03 · LE MODÈLE ÉCONOMIQUE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Trois étages,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une seule vente</a:t>
            </a:r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B95C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Une mission flash ouvre une licence récurrente, qui ouvre le build. Chaque étage finance le suivant.</a:t>
            </a:r>
            <a:endParaRPr lang="en-US" sz="1400" dirty="0"/>
          </a:p>
        </p:txBody>
      </p:sp>
      <p:pic>
        <p:nvPicPr>
          <p:cNvPr id="6" name="Image 0" descr="/Users/baptistepirault/.claude/skills/sfeir-brand-guidelines/assets/logo-sfeir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09160"/>
            <a:ext cx="548640" cy="182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63840" y="4718304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84756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 / 18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8454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— 03 · LE MODÈLE ÉCONOMIQUE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1B1B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Un entonnoir à trois étages</a:t>
            </a:r>
            <a:pPr indent="0" marL="0">
              <a:buNone/>
            </a:pPr>
            <a:r>
              <a:rPr lang="en-US" sz="2600" b="1" dirty="0">
                <a:solidFill>
                  <a:srgbClr val="8454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72768"/>
            <a:ext cx="8229600" cy="10973"/>
          </a:xfrm>
          <a:prstGeom prst="rect">
            <a:avLst/>
          </a:prstGeom>
          <a:solidFill>
            <a:srgbClr val="DADADA"/>
          </a:solidFill>
          <a:ln/>
        </p:spPr>
      </p:sp>
      <p:pic>
        <p:nvPicPr>
          <p:cNvPr id="5" name="Image 0" descr="/Users/baptistepirault/.claude/skills/sfeir-brand-guidelines/assets/logo-sfeir-gr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09160"/>
            <a:ext cx="548640" cy="182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863840" y="4718304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51453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 / 18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965960"/>
            <a:ext cx="2615184" cy="1115568"/>
          </a:xfrm>
          <a:prstGeom prst="rect">
            <a:avLst/>
          </a:prstGeom>
          <a:solidFill>
            <a:srgbClr val="FFF0D6"/>
          </a:solidFill>
          <a:ln/>
        </p:spPr>
      </p:sp>
      <p:sp>
        <p:nvSpPr>
          <p:cNvPr id="8" name="Shape 5"/>
          <p:cNvSpPr/>
          <p:nvPr/>
        </p:nvSpPr>
        <p:spPr>
          <a:xfrm>
            <a:off x="457200" y="1965960"/>
            <a:ext cx="36576" cy="1115568"/>
          </a:xfrm>
          <a:prstGeom prst="rect">
            <a:avLst/>
          </a:prstGeom>
          <a:solidFill>
            <a:srgbClr val="3D2100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" y="2048256"/>
            <a:ext cx="23408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20" kern="0" dirty="0">
                <a:solidFill>
                  <a:srgbClr val="3D21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 · PORTE D'ENTRÉE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594360" y="2240280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D21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Assessment flash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94360" y="2459736"/>
            <a:ext cx="234086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D21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2 à 3 jours · 3 000 à 4 500 € HT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D21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marge brute 60 %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099816" y="2523744"/>
            <a:ext cx="137160" cy="0"/>
          </a:xfrm>
          <a:prstGeom prst="line">
            <a:avLst/>
          </a:prstGeom>
          <a:noFill/>
          <a:ln w="15875">
            <a:solidFill>
              <a:srgbClr val="845400"/>
            </a:solidFill>
            <a:prstDash val="solid"/>
            <a:headEnd type="none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3264408" y="1965960"/>
            <a:ext cx="2615184" cy="1115568"/>
          </a:xfrm>
          <a:prstGeom prst="rect">
            <a:avLst/>
          </a:prstGeom>
          <a:solidFill>
            <a:srgbClr val="F2C878"/>
          </a:solidFill>
          <a:ln/>
        </p:spPr>
      </p:sp>
      <p:sp>
        <p:nvSpPr>
          <p:cNvPr id="14" name="Shape 11"/>
          <p:cNvSpPr/>
          <p:nvPr/>
        </p:nvSpPr>
        <p:spPr>
          <a:xfrm>
            <a:off x="3264408" y="1965960"/>
            <a:ext cx="36576" cy="1115568"/>
          </a:xfrm>
          <a:prstGeom prst="rect">
            <a:avLst/>
          </a:prstGeom>
          <a:solidFill>
            <a:srgbClr val="3D2100"/>
          </a:solidFill>
          <a:ln/>
        </p:spPr>
      </p:sp>
      <p:sp>
        <p:nvSpPr>
          <p:cNvPr id="15" name="Text 12"/>
          <p:cNvSpPr/>
          <p:nvPr/>
        </p:nvSpPr>
        <p:spPr>
          <a:xfrm>
            <a:off x="3401568" y="2048256"/>
            <a:ext cx="23408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20" kern="0" dirty="0">
                <a:solidFill>
                  <a:srgbClr val="3D21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 · RENTE LOGICIELLE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3401568" y="2240280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D21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Licence CPPO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401568" y="2459736"/>
            <a:ext cx="234086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D21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25 k€ à 75 k€ par an · imputés sur l'EDP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907024" y="2523744"/>
            <a:ext cx="137160" cy="0"/>
          </a:xfrm>
          <a:prstGeom prst="line">
            <a:avLst/>
          </a:prstGeom>
          <a:noFill/>
          <a:ln w="15875">
            <a:solidFill>
              <a:srgbClr val="845400"/>
            </a:solidFill>
            <a:prstDash val="solid"/>
            <a:headEnd type="none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6071616" y="1965960"/>
            <a:ext cx="2615184" cy="1115568"/>
          </a:xfrm>
          <a:prstGeom prst="rect">
            <a:avLst/>
          </a:prstGeom>
          <a:solidFill>
            <a:srgbClr val="E5A040"/>
          </a:solidFill>
          <a:ln/>
        </p:spPr>
      </p:sp>
      <p:sp>
        <p:nvSpPr>
          <p:cNvPr id="20" name="Shape 17"/>
          <p:cNvSpPr/>
          <p:nvPr/>
        </p:nvSpPr>
        <p:spPr>
          <a:xfrm>
            <a:off x="6071616" y="1965960"/>
            <a:ext cx="36576" cy="1115568"/>
          </a:xfrm>
          <a:prstGeom prst="rect">
            <a:avLst/>
          </a:prstGeom>
          <a:solidFill>
            <a:srgbClr val="3D2100"/>
          </a:solidFill>
          <a:ln/>
        </p:spPr>
      </p:sp>
      <p:sp>
        <p:nvSpPr>
          <p:cNvPr id="21" name="Text 18"/>
          <p:cNvSpPr/>
          <p:nvPr/>
        </p:nvSpPr>
        <p:spPr>
          <a:xfrm>
            <a:off x="6208776" y="2048256"/>
            <a:ext cx="23408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20" kern="0" dirty="0">
                <a:solidFill>
                  <a:srgbClr val="3D21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 · PRESTATION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6208776" y="2240280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D21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Build et SecOps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208776" y="2459736"/>
            <a:ext cx="234086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D21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50 k€ à 150 k€ par mise en production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57200" y="324612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51453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VALEUR CROISSANTE DU CONTRAT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75888"/>
            <a:ext cx="8229600" cy="80467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6" name="Text 23"/>
          <p:cNvSpPr/>
          <p:nvPr/>
        </p:nvSpPr>
        <p:spPr>
          <a:xfrm>
            <a:off x="658368" y="3776472"/>
            <a:ext cx="7827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FFB9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L'EFFET DE LEVIER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658368" y="3986784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1F1F1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L'assessment n'est pas une offre d'appel à perte : il finance sa conversion en licence.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FFB9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— 03 · LE MODÈLE ÉCONOMIQUE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Projection à 12 mois</a:t>
            </a:r>
            <a:pPr indent="0" marL="0">
              <a:buNone/>
            </a:pPr>
            <a:r>
              <a:rPr lang="en-US" sz="2800" b="1" dirty="0">
                <a:solidFill>
                  <a:srgbClr val="FFB95C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FFB95C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906 k€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9019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F1F1F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CHIFFRE D'AFFAIRES BRUT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383280" y="11887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FFB95C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520 k€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3383280" y="19019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F1F1F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MARGE BRUTE · 57 %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400800" y="1225296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1F1F1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Scénario conservateur, sur 15 comptes grands comptes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1F1F1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du portefeuille existant.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0" y="2395728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84756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 BRUT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132320" y="239572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84756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MARGE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58368" y="270662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Assessment flash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743200" y="271576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1F1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20 missions vendues · 3 800 € en moyenne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669280" y="270662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76 k€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132320" y="270662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F1F1F1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48 k€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58368" y="303580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Licences CPPO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743200" y="304495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1F1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10 souscriptions annuelles · 35 000 €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669280" y="303580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350 k€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132320" y="303580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F1F1F1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280 k€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58368" y="336499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Build et SecOps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743200" y="3374136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1F1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6 projets d'industrialisation · 80 000 €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669280" y="336499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480 k€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132320" y="336499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F1F1F1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192 k€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3602736"/>
            <a:ext cx="8229600" cy="32918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" y="369417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B95C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TOTAL AN 1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669280" y="369417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FFB95C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906 k€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132320" y="369417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FFB95C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520 k€</a:t>
            </a:r>
            <a:endParaRPr lang="en-US" sz="1050" dirty="0"/>
          </a:p>
        </p:txBody>
      </p:sp>
      <p:pic>
        <p:nvPicPr>
          <p:cNvPr id="27" name="Image 0" descr="/Users/baptistepirault/.claude/skills/sfeir-brand-guidelines/assets/logo-sfeir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09160"/>
            <a:ext cx="548640" cy="18288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7863840" y="4718304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84756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11 / 18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8454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— 03 · LE MODÈLE ÉCONOMIQUE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1B1B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L'argument qui raccourcit le cycle</a:t>
            </a:r>
            <a:pPr indent="0" marL="0">
              <a:buNone/>
            </a:pPr>
            <a:r>
              <a:rPr lang="en-US" sz="2600" b="1" dirty="0">
                <a:solidFill>
                  <a:srgbClr val="8454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72768"/>
            <a:ext cx="8229600" cy="10973"/>
          </a:xfrm>
          <a:prstGeom prst="rect">
            <a:avLst/>
          </a:prstGeom>
          <a:solidFill>
            <a:srgbClr val="DADADA"/>
          </a:solidFill>
          <a:ln/>
        </p:spPr>
      </p:sp>
      <p:pic>
        <p:nvPicPr>
          <p:cNvPr id="5" name="Image 0" descr="/Users/baptistepirault/.claude/skills/sfeir-brand-guidelines/assets/logo-sfeir-gr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09160"/>
            <a:ext cx="548640" cy="182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863840" y="4718304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51453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12 / 18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874520"/>
            <a:ext cx="2194560" cy="1325880"/>
          </a:xfrm>
          <a:prstGeom prst="rect">
            <a:avLst/>
          </a:prstGeom>
          <a:solidFill>
            <a:srgbClr val="142D45"/>
          </a:solidFill>
          <a:ln/>
        </p:spPr>
      </p:sp>
      <p:sp>
        <p:nvSpPr>
          <p:cNvPr id="8" name="Shape 5"/>
          <p:cNvSpPr/>
          <p:nvPr/>
        </p:nvSpPr>
        <p:spPr>
          <a:xfrm>
            <a:off x="457200" y="1874520"/>
            <a:ext cx="2194560" cy="27432"/>
          </a:xfrm>
          <a:prstGeom prst="rect">
            <a:avLst/>
          </a:prstGeom>
          <a:solidFill>
            <a:srgbClr val="E5A040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2226564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spc="120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CÔTÉ CLIENT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457200" y="2409444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Engagement EDP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288493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E4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USE-IT-OR-LOSE-IT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3017520" y="1874520"/>
            <a:ext cx="3108960" cy="1325880"/>
          </a:xfrm>
          <a:prstGeom prst="rect">
            <a:avLst/>
          </a:prstGeom>
          <a:solidFill>
            <a:srgbClr val="D4E4F2"/>
          </a:solidFill>
          <a:ln/>
        </p:spPr>
      </p:sp>
      <p:sp>
        <p:nvSpPr>
          <p:cNvPr id="13" name="Shape 10"/>
          <p:cNvSpPr/>
          <p:nvPr/>
        </p:nvSpPr>
        <p:spPr>
          <a:xfrm>
            <a:off x="3017520" y="1874520"/>
            <a:ext cx="36576" cy="1325880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14" name="Text 11"/>
          <p:cNvSpPr/>
          <p:nvPr/>
        </p:nvSpPr>
        <p:spPr>
          <a:xfrm>
            <a:off x="3154680" y="1956816"/>
            <a:ext cx="2834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20" kern="0" dirty="0">
                <a:solidFill>
                  <a:srgbClr val="2C5F8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 VÉHICULE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3154680" y="214884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B1B1B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Private Offer CPPO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154680" y="2368296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14536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portée par SFEIR, éditeur référencé sur la Marketplace · imputation à 100 % sur l'engagement pluriannuel déjà signé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492240" y="1874520"/>
            <a:ext cx="2194560" cy="1325880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18" name="Shape 15"/>
          <p:cNvSpPr/>
          <p:nvPr/>
        </p:nvSpPr>
        <p:spPr>
          <a:xfrm>
            <a:off x="6492240" y="1874520"/>
            <a:ext cx="2194560" cy="27432"/>
          </a:xfrm>
          <a:prstGeom prst="rect">
            <a:avLst/>
          </a:prstGeom>
          <a:solidFill>
            <a:srgbClr val="E5A040"/>
          </a:solidFill>
          <a:ln/>
        </p:spPr>
      </p:sp>
      <p:sp>
        <p:nvSpPr>
          <p:cNvPr id="19" name="Text 16"/>
          <p:cNvSpPr/>
          <p:nvPr/>
        </p:nvSpPr>
        <p:spPr>
          <a:xfrm>
            <a:off x="6492240" y="2226564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spc="120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CÔTÉ SFEIR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6492240" y="2409444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Licence Vibe Guard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492240" y="288493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E4F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ARR 25 À 75 K€ / AN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2697480" y="2537460"/>
            <a:ext cx="274320" cy="0"/>
          </a:xfrm>
          <a:prstGeom prst="line">
            <a:avLst/>
          </a:prstGeom>
          <a:noFill/>
          <a:ln w="15875">
            <a:solidFill>
              <a:srgbClr val="845400"/>
            </a:solidFill>
            <a:prstDash val="solid"/>
            <a:headEnd type="none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6172200" y="2537460"/>
            <a:ext cx="274320" cy="0"/>
          </a:xfrm>
          <a:prstGeom prst="line">
            <a:avLst/>
          </a:prstGeom>
          <a:noFill/>
          <a:ln w="15875">
            <a:solidFill>
              <a:srgbClr val="845400"/>
            </a:solidFill>
            <a:prstDash val="solid"/>
            <a:headEnd type="none"/>
            <a:tailEnd type="triangle"/>
          </a:ln>
        </p:spPr>
      </p:sp>
      <p:sp>
        <p:nvSpPr>
          <p:cNvPr id="24" name="Text 21"/>
          <p:cNvSpPr/>
          <p:nvPr/>
        </p:nvSpPr>
        <p:spPr>
          <a:xfrm>
            <a:off x="457200" y="340156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51453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CYCLE DE DÉCISION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2331720" y="33649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51453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 MOIS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200400" y="3465576"/>
            <a:ext cx="457200" cy="0"/>
          </a:xfrm>
          <a:prstGeom prst="line">
            <a:avLst/>
          </a:prstGeom>
          <a:noFill/>
          <a:ln w="15875">
            <a:solidFill>
              <a:srgbClr val="845400"/>
            </a:solidFill>
            <a:prstDash val="solid"/>
            <a:headEnd type="none"/>
            <a:tailEnd type="triangle"/>
          </a:ln>
        </p:spPr>
      </p:sp>
      <p:sp>
        <p:nvSpPr>
          <p:cNvPr id="27" name="Text 24"/>
          <p:cNvSpPr/>
          <p:nvPr/>
        </p:nvSpPr>
        <p:spPr>
          <a:xfrm>
            <a:off x="3767328" y="33649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8454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MOINS DE 3 SEMAINES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57200" y="3703320"/>
            <a:ext cx="8229600" cy="80467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9" name="Text 26"/>
          <p:cNvSpPr/>
          <p:nvPr/>
        </p:nvSpPr>
        <p:spPr>
          <a:xfrm>
            <a:off x="658368" y="3803904"/>
            <a:ext cx="7827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FFB9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POURQUOI LE CLIENT SIGNE VITE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658368" y="4014216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1F1F1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Aucun budget nouveau à débloquer : l'opération reste transparente pour sa direction financière.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66928"/>
            <a:ext cx="365760" cy="13716"/>
          </a:xfrm>
          <a:prstGeom prst="rect">
            <a:avLst/>
          </a:prstGeom>
          <a:solidFill>
            <a:srgbClr val="FFB95C"/>
          </a:solidFill>
          <a:ln/>
        </p:spPr>
      </p:sp>
      <p:sp>
        <p:nvSpPr>
          <p:cNvPr id="3" name="Text 1"/>
          <p:cNvSpPr/>
          <p:nvPr/>
        </p:nvSpPr>
        <p:spPr>
          <a:xfrm>
            <a:off x="932688" y="4846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80" kern="0" dirty="0">
                <a:solidFill>
                  <a:srgbClr val="FFB9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— 04 · EXÉCUTION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Du pilote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à la généralisation</a:t>
            </a:r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B95C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Homologation Marketplace, enablement interne, campagne conjointe : six mois jusqu'aux premiers CPPO.</a:t>
            </a:r>
            <a:endParaRPr lang="en-US" sz="1400" dirty="0"/>
          </a:p>
        </p:txBody>
      </p:sp>
      <p:pic>
        <p:nvPicPr>
          <p:cNvPr id="6" name="Image 0" descr="/Users/baptistepirault/.claude/skills/sfeir-brand-guidelines/assets/logo-sfeir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09160"/>
            <a:ext cx="548640" cy="182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63840" y="4718304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84756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13 / 18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8454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— 04 · EXÉCUTION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1B1B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Ce que l'alliance Google y gagne</a:t>
            </a:r>
            <a:pPr indent="0" marL="0">
              <a:buNone/>
            </a:pPr>
            <a:r>
              <a:rPr lang="en-US" sz="2600" b="1" dirty="0">
                <a:solidFill>
                  <a:srgbClr val="8454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72768"/>
            <a:ext cx="8229600" cy="10973"/>
          </a:xfrm>
          <a:prstGeom prst="rect">
            <a:avLst/>
          </a:prstGeom>
          <a:solidFill>
            <a:srgbClr val="DADADA"/>
          </a:solidFill>
          <a:ln/>
        </p:spPr>
      </p:sp>
      <p:pic>
        <p:nvPicPr>
          <p:cNvPr id="5" name="Image 0" descr="/Users/baptistepirault/.claude/skills/sfeir-brand-guidelines/assets/logo-sfeir-gr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09160"/>
            <a:ext cx="548640" cy="182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863840" y="4718304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51453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14 / 18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965960"/>
            <a:ext cx="2615184" cy="118872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8" name="Shape 5"/>
          <p:cNvSpPr/>
          <p:nvPr/>
        </p:nvSpPr>
        <p:spPr>
          <a:xfrm>
            <a:off x="457200" y="1965960"/>
            <a:ext cx="36576" cy="1188720"/>
          </a:xfrm>
          <a:prstGeom prst="rect">
            <a:avLst/>
          </a:prstGeom>
          <a:solidFill>
            <a:srgbClr val="845400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" y="2048256"/>
            <a:ext cx="23408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20" kern="0" dirty="0">
                <a:solidFill>
                  <a:srgbClr val="8454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 · CO-SELLING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594360" y="2240280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B1B1B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Consommation GCP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94360" y="2459736"/>
            <a:ext cx="234086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14536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Cloud Run, Secret Manager, Vertex AI, IAP · les AE et CE Google sont incités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264408" y="1965960"/>
            <a:ext cx="2615184" cy="118872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3" name="Shape 10"/>
          <p:cNvSpPr/>
          <p:nvPr/>
        </p:nvSpPr>
        <p:spPr>
          <a:xfrm>
            <a:off x="3264408" y="1965960"/>
            <a:ext cx="36576" cy="1188720"/>
          </a:xfrm>
          <a:prstGeom prst="rect">
            <a:avLst/>
          </a:prstGeom>
          <a:solidFill>
            <a:srgbClr val="845400"/>
          </a:solidFill>
          <a:ln/>
        </p:spPr>
      </p:sp>
      <p:sp>
        <p:nvSpPr>
          <p:cNvPr id="14" name="Text 11"/>
          <p:cNvSpPr/>
          <p:nvPr/>
        </p:nvSpPr>
        <p:spPr>
          <a:xfrm>
            <a:off x="3401568" y="2048256"/>
            <a:ext cx="23408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20" kern="0" dirty="0">
                <a:solidFill>
                  <a:srgbClr val="8454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 · GEMINI ENTERPRISE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3401568" y="2240280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B1B1B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Partenaire de référence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401568" y="2459736"/>
            <a:ext cx="234086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14536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des agents métier et techniques déployés dans les tenants privés des grands comptes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071616" y="1965960"/>
            <a:ext cx="2615184" cy="118872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8" name="Shape 15"/>
          <p:cNvSpPr/>
          <p:nvPr/>
        </p:nvSpPr>
        <p:spPr>
          <a:xfrm>
            <a:off x="6071616" y="1965960"/>
            <a:ext cx="36576" cy="1188720"/>
          </a:xfrm>
          <a:prstGeom prst="rect">
            <a:avLst/>
          </a:prstGeom>
          <a:solidFill>
            <a:srgbClr val="845400"/>
          </a:solidFill>
          <a:ln/>
        </p:spPr>
      </p:sp>
      <p:sp>
        <p:nvSpPr>
          <p:cNvPr id="19" name="Text 16"/>
          <p:cNvSpPr/>
          <p:nvPr/>
        </p:nvSpPr>
        <p:spPr>
          <a:xfrm>
            <a:off x="6208776" y="2048256"/>
            <a:ext cx="23408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20" kern="0" dirty="0">
                <a:solidFill>
                  <a:srgbClr val="8454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 · VISIBILITÉ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6208776" y="2240280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B1B1B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Vitrine Premier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208776" y="2459736"/>
            <a:ext cx="234086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14536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Google Cloud Summit, DevFest, hackathons GenAI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57200" y="3675888"/>
            <a:ext cx="8229600" cy="80467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3" name="Text 20"/>
          <p:cNvSpPr/>
          <p:nvPr/>
        </p:nvSpPr>
        <p:spPr>
          <a:xfrm>
            <a:off x="658368" y="3776472"/>
            <a:ext cx="7827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FFB9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CE QUE ÇA NOUS ACHÈTE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58368" y="3986784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1F1F1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Une force de vente Google alignée sur notre offre, et un statut d'éditeur sur la Marketplace.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8454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— 04 · EXÉCUTION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1B1B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Six mois, deux trimestres</a:t>
            </a:r>
            <a:pPr indent="0" marL="0">
              <a:buNone/>
            </a:pPr>
            <a:r>
              <a:rPr lang="en-US" sz="2600" b="1" dirty="0">
                <a:solidFill>
                  <a:srgbClr val="8454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72768"/>
            <a:ext cx="8229600" cy="10973"/>
          </a:xfrm>
          <a:prstGeom prst="rect">
            <a:avLst/>
          </a:prstGeom>
          <a:solidFill>
            <a:srgbClr val="DADADA"/>
          </a:solidFill>
          <a:ln/>
        </p:spPr>
      </p:sp>
      <p:pic>
        <p:nvPicPr>
          <p:cNvPr id="5" name="Image 0" descr="/Users/baptistepirault/.claude/skills/sfeir-brand-guidelines/assets/logo-sfeir-gr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09160"/>
            <a:ext cx="548640" cy="182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863840" y="4718304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51453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15 / 18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2788920" y="1755648"/>
            <a:ext cx="29489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8454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Q4 2026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737860" y="1755648"/>
            <a:ext cx="29489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51453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Q1 2027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788920" y="1956816"/>
            <a:ext cx="9829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1453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OCT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2788920" y="2157984"/>
            <a:ext cx="9144" cy="1463040"/>
          </a:xfrm>
          <a:prstGeom prst="rect">
            <a:avLst/>
          </a:prstGeom>
          <a:solidFill>
            <a:srgbClr val="EFE7DC"/>
          </a:solidFill>
          <a:ln/>
        </p:spPr>
      </p:sp>
      <p:sp>
        <p:nvSpPr>
          <p:cNvPr id="11" name="Text 8"/>
          <p:cNvSpPr/>
          <p:nvPr/>
        </p:nvSpPr>
        <p:spPr>
          <a:xfrm>
            <a:off x="3771900" y="1956816"/>
            <a:ext cx="9829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1453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NOV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3771900" y="2157984"/>
            <a:ext cx="9144" cy="1463040"/>
          </a:xfrm>
          <a:prstGeom prst="rect">
            <a:avLst/>
          </a:prstGeom>
          <a:solidFill>
            <a:srgbClr val="EFE7DC"/>
          </a:solidFill>
          <a:ln/>
        </p:spPr>
      </p:sp>
      <p:sp>
        <p:nvSpPr>
          <p:cNvPr id="13" name="Text 10"/>
          <p:cNvSpPr/>
          <p:nvPr/>
        </p:nvSpPr>
        <p:spPr>
          <a:xfrm>
            <a:off x="4754880" y="1956816"/>
            <a:ext cx="9829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1453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DÉC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4754880" y="2157984"/>
            <a:ext cx="9144" cy="1463040"/>
          </a:xfrm>
          <a:prstGeom prst="rect">
            <a:avLst/>
          </a:prstGeom>
          <a:solidFill>
            <a:srgbClr val="EFE7DC"/>
          </a:solidFill>
          <a:ln/>
        </p:spPr>
      </p:sp>
      <p:sp>
        <p:nvSpPr>
          <p:cNvPr id="15" name="Text 12"/>
          <p:cNvSpPr/>
          <p:nvPr/>
        </p:nvSpPr>
        <p:spPr>
          <a:xfrm>
            <a:off x="5737860" y="1956816"/>
            <a:ext cx="9829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1453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JAN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5737860" y="2157984"/>
            <a:ext cx="9144" cy="1463040"/>
          </a:xfrm>
          <a:prstGeom prst="rect">
            <a:avLst/>
          </a:prstGeom>
          <a:solidFill>
            <a:srgbClr val="DADADA"/>
          </a:solidFill>
          <a:ln/>
        </p:spPr>
      </p:sp>
      <p:sp>
        <p:nvSpPr>
          <p:cNvPr id="17" name="Text 14"/>
          <p:cNvSpPr/>
          <p:nvPr/>
        </p:nvSpPr>
        <p:spPr>
          <a:xfrm>
            <a:off x="6720840" y="1956816"/>
            <a:ext cx="9829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1453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FÉV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6720840" y="2157984"/>
            <a:ext cx="9144" cy="1463040"/>
          </a:xfrm>
          <a:prstGeom prst="rect">
            <a:avLst/>
          </a:prstGeom>
          <a:solidFill>
            <a:srgbClr val="EFE7DC"/>
          </a:solidFill>
          <a:ln/>
        </p:spPr>
      </p:sp>
      <p:sp>
        <p:nvSpPr>
          <p:cNvPr id="19" name="Text 16"/>
          <p:cNvSpPr/>
          <p:nvPr/>
        </p:nvSpPr>
        <p:spPr>
          <a:xfrm>
            <a:off x="7703820" y="1956816"/>
            <a:ext cx="9829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1453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MAR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7703820" y="2157984"/>
            <a:ext cx="9144" cy="1463040"/>
          </a:xfrm>
          <a:prstGeom prst="rect">
            <a:avLst/>
          </a:prstGeom>
          <a:solidFill>
            <a:srgbClr val="EFE7DC"/>
          </a:solidFill>
          <a:ln/>
        </p:spPr>
      </p:sp>
      <p:sp>
        <p:nvSpPr>
          <p:cNvPr id="21" name="Shape 18"/>
          <p:cNvSpPr/>
          <p:nvPr/>
        </p:nvSpPr>
        <p:spPr>
          <a:xfrm>
            <a:off x="2788920" y="2157984"/>
            <a:ext cx="5897880" cy="10973"/>
          </a:xfrm>
          <a:prstGeom prst="rect">
            <a:avLst/>
          </a:prstGeom>
          <a:solidFill>
            <a:srgbClr val="DADADA"/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" y="224028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B1B1B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Homologation Marketplace GCP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2788920" y="2267712"/>
            <a:ext cx="761017" cy="137160"/>
          </a:xfrm>
          <a:prstGeom prst="rect">
            <a:avLst/>
          </a:prstGeom>
          <a:solidFill>
            <a:srgbClr val="845400"/>
          </a:solidFill>
          <a:ln/>
        </p:spPr>
      </p:sp>
      <p:sp>
        <p:nvSpPr>
          <p:cNvPr id="24" name="Text 21"/>
          <p:cNvSpPr/>
          <p:nvPr/>
        </p:nvSpPr>
        <p:spPr>
          <a:xfrm>
            <a:off x="457200" y="253288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B1B1B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Enablement Sales, CTO et ED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3391392" y="2560320"/>
            <a:ext cx="839232" cy="137160"/>
          </a:xfrm>
          <a:prstGeom prst="rect">
            <a:avLst/>
          </a:prstGeom>
          <a:solidFill>
            <a:srgbClr val="845400"/>
          </a:solidFill>
          <a:ln/>
        </p:spPr>
      </p:sp>
      <p:sp>
        <p:nvSpPr>
          <p:cNvPr id="26" name="Text 23"/>
          <p:cNvSpPr/>
          <p:nvPr/>
        </p:nvSpPr>
        <p:spPr>
          <a:xfrm>
            <a:off x="457200" y="282549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B1B1B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Trois assessments pilotes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3771900" y="2852928"/>
            <a:ext cx="1426906" cy="137160"/>
          </a:xfrm>
          <a:prstGeom prst="rect">
            <a:avLst/>
          </a:prstGeom>
          <a:solidFill>
            <a:srgbClr val="845400"/>
          </a:solidFill>
          <a:ln/>
        </p:spPr>
      </p:sp>
      <p:sp>
        <p:nvSpPr>
          <p:cNvPr id="28" name="Text 25"/>
          <p:cNvSpPr/>
          <p:nvPr/>
        </p:nvSpPr>
        <p:spPr>
          <a:xfrm>
            <a:off x="457200" y="311810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B1B1B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Campagne conjointe Google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5864696" y="3145536"/>
            <a:ext cx="1804017" cy="137160"/>
          </a:xfrm>
          <a:prstGeom prst="rect">
            <a:avLst/>
          </a:prstGeom>
          <a:solidFill>
            <a:srgbClr val="E5A040"/>
          </a:solidFill>
          <a:ln/>
        </p:spPr>
      </p:sp>
      <p:sp>
        <p:nvSpPr>
          <p:cNvPr id="30" name="Text 27"/>
          <p:cNvSpPr/>
          <p:nvPr/>
        </p:nvSpPr>
        <p:spPr>
          <a:xfrm>
            <a:off x="457200" y="341071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B1B1B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Généralisation des CPPO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6720840" y="3438144"/>
            <a:ext cx="1934251" cy="137160"/>
          </a:xfrm>
          <a:prstGeom prst="rect">
            <a:avLst/>
          </a:prstGeom>
          <a:solidFill>
            <a:srgbClr val="E5A040"/>
          </a:solidFill>
          <a:ln/>
        </p:spPr>
      </p:sp>
      <p:sp>
        <p:nvSpPr>
          <p:cNvPr id="32" name="Shape 29"/>
          <p:cNvSpPr/>
          <p:nvPr/>
        </p:nvSpPr>
        <p:spPr>
          <a:xfrm>
            <a:off x="457200" y="3730752"/>
            <a:ext cx="8229600" cy="80467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3" name="Text 30"/>
          <p:cNvSpPr/>
          <p:nvPr/>
        </p:nvSpPr>
        <p:spPr>
          <a:xfrm>
            <a:off x="658368" y="3831336"/>
            <a:ext cx="7827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FFB9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 CHEMIN CRITIQUE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658368" y="4041648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1F1F1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L'enablement d'octobre commande les trois pilotes, qui commandent la généralisation des Private Offers.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8454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— 04 · EXÉCUTION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1B1B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Trois risques, trois parades</a:t>
            </a:r>
            <a:pPr indent="0" marL="0">
              <a:buNone/>
            </a:pPr>
            <a:r>
              <a:rPr lang="en-US" sz="2600" b="1" dirty="0">
                <a:solidFill>
                  <a:srgbClr val="8454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72768"/>
            <a:ext cx="8229600" cy="10973"/>
          </a:xfrm>
          <a:prstGeom prst="rect">
            <a:avLst/>
          </a:prstGeom>
          <a:solidFill>
            <a:srgbClr val="DADADA"/>
          </a:solidFill>
          <a:ln/>
        </p:spPr>
      </p:sp>
      <p:pic>
        <p:nvPicPr>
          <p:cNvPr id="5" name="Image 0" descr="/Users/baptistepirault/.claude/skills/sfeir-brand-guidelines/assets/logo-sfeir-gr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09160"/>
            <a:ext cx="548640" cy="182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863840" y="4718304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51453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16 / 18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828800"/>
            <a:ext cx="8229600" cy="2560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5"/>
          <p:cNvSpPr/>
          <p:nvPr/>
        </p:nvSpPr>
        <p:spPr>
          <a:xfrm>
            <a:off x="621792" y="189280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FFB9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RISQUE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273552" y="189280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FFB9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PARADE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57200" y="2084832"/>
            <a:ext cx="822960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621792" y="21762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B1B1B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Responsabilité sur le code scanné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273552" y="218541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14536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Analyse statique déterministe, validation humaine systématique, CGU d'assistance sans transfert de responsabilité du run.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57200" y="2596896"/>
            <a:ext cx="8229600" cy="512064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4" name="Text 11"/>
          <p:cNvSpPr/>
          <p:nvPr/>
        </p:nvSpPr>
        <p:spPr>
          <a:xfrm>
            <a:off x="621792" y="268833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B1B1B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Fuite de données client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273552" y="26974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14536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Architecture Zero-Egress C1 / C2 : exécution dans le tenant du client, aucun stockage intermédiaire, purge à chaque scan.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57200" y="3108960"/>
            <a:ext cx="822960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4"/>
          <p:cNvSpPr/>
          <p:nvPr/>
        </p:nvSpPr>
        <p:spPr>
          <a:xfrm>
            <a:off x="621792" y="32004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B1B1B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Charge des équipes SFEIR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273552" y="320954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14536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Assessment automatisé à 85 % : moins de 1,5 jour de consultant expérimenté pour une mission de 3 jours facturés.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57200" y="3767328"/>
            <a:ext cx="8229600" cy="78638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0" name="Text 17"/>
          <p:cNvSpPr/>
          <p:nvPr/>
        </p:nvSpPr>
        <p:spPr>
          <a:xfrm>
            <a:off x="658368" y="3867912"/>
            <a:ext cx="7827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FFB9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CE QUE CELA IMPLIQUE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58368" y="4078224"/>
            <a:ext cx="7827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1F1F1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Les trois risques se traitent par l'architecture et par le contrat, sans réserve budgétaire.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8454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— 05 · ARBITRAGE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1B1B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Trois décisions demandées au COMEX</a:t>
            </a:r>
            <a:pPr indent="0" marL="0">
              <a:buNone/>
            </a:pPr>
            <a:r>
              <a:rPr lang="en-US" sz="2600" b="1" dirty="0">
                <a:solidFill>
                  <a:srgbClr val="8454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72768"/>
            <a:ext cx="8229600" cy="10973"/>
          </a:xfrm>
          <a:prstGeom prst="rect">
            <a:avLst/>
          </a:prstGeom>
          <a:solidFill>
            <a:srgbClr val="DADADA"/>
          </a:solidFill>
          <a:ln/>
        </p:spPr>
      </p:sp>
      <p:pic>
        <p:nvPicPr>
          <p:cNvPr id="5" name="Image 0" descr="/Users/baptistepirault/.claude/skills/sfeir-brand-guidelines/assets/logo-sfeir-gr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09160"/>
            <a:ext cx="548640" cy="182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863840" y="4718304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51453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17 / 18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965960"/>
            <a:ext cx="2615184" cy="118872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8" name="Shape 5"/>
          <p:cNvSpPr/>
          <p:nvPr/>
        </p:nvSpPr>
        <p:spPr>
          <a:xfrm>
            <a:off x="457200" y="1965960"/>
            <a:ext cx="36576" cy="1188720"/>
          </a:xfrm>
          <a:prstGeom prst="rect">
            <a:avLst/>
          </a:prstGeom>
          <a:solidFill>
            <a:srgbClr val="845400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" y="2048256"/>
            <a:ext cx="23408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20" kern="0" dirty="0">
                <a:solidFill>
                  <a:srgbClr val="8454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DÉCISION 01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594360" y="2240280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B1B1B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Lancement commercial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94360" y="2459736"/>
            <a:ext cx="234086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14536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l'offre Vibe Coding Security Assessment entre au catalogue des offres d'appel SFEIR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264408" y="1965960"/>
            <a:ext cx="2615184" cy="118872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3" name="Shape 10"/>
          <p:cNvSpPr/>
          <p:nvPr/>
        </p:nvSpPr>
        <p:spPr>
          <a:xfrm>
            <a:off x="3264408" y="1965960"/>
            <a:ext cx="36576" cy="1188720"/>
          </a:xfrm>
          <a:prstGeom prst="rect">
            <a:avLst/>
          </a:prstGeom>
          <a:solidFill>
            <a:srgbClr val="845400"/>
          </a:solidFill>
          <a:ln/>
        </p:spPr>
      </p:sp>
      <p:sp>
        <p:nvSpPr>
          <p:cNvPr id="14" name="Text 11"/>
          <p:cNvSpPr/>
          <p:nvPr/>
        </p:nvSpPr>
        <p:spPr>
          <a:xfrm>
            <a:off x="3401568" y="2048256"/>
            <a:ext cx="23408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20" kern="0" dirty="0">
                <a:solidFill>
                  <a:srgbClr val="8454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DÉCISION 02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3401568" y="2240280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B1B1B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Distribution Marketplace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401568" y="2459736"/>
            <a:ext cx="234086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14536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Vibe Guard éligible aux Private Offers CPPO sous l'entité éditeur SFEIR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071616" y="1965960"/>
            <a:ext cx="2615184" cy="118872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8" name="Shape 15"/>
          <p:cNvSpPr/>
          <p:nvPr/>
        </p:nvSpPr>
        <p:spPr>
          <a:xfrm>
            <a:off x="6071616" y="1965960"/>
            <a:ext cx="36576" cy="1188720"/>
          </a:xfrm>
          <a:prstGeom prst="rect">
            <a:avLst/>
          </a:prstGeom>
          <a:solidFill>
            <a:srgbClr val="845400"/>
          </a:solidFill>
          <a:ln/>
        </p:spPr>
      </p:sp>
      <p:sp>
        <p:nvSpPr>
          <p:cNvPr id="19" name="Text 16"/>
          <p:cNvSpPr/>
          <p:nvPr/>
        </p:nvSpPr>
        <p:spPr>
          <a:xfrm>
            <a:off x="6208776" y="2048256"/>
            <a:ext cx="23408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20" kern="0" dirty="0">
                <a:solidFill>
                  <a:srgbClr val="8454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DÉCISION 03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6208776" y="2240280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B1B1B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Enablement interne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208776" y="2459736"/>
            <a:ext cx="234086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14536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une session de 2 heures pour les Sales, CTO et ED en octobre 2026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57200" y="3675888"/>
            <a:ext cx="8229600" cy="80467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3" name="Text 20"/>
          <p:cNvSpPr/>
          <p:nvPr/>
        </p:nvSpPr>
        <p:spPr>
          <a:xfrm>
            <a:off x="658368" y="3776472"/>
            <a:ext cx="7827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FFB9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CE QUI LIE LES TROIS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58368" y="3986784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1F1F1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Sans référencement Marketplace, pas d'ARR. Sans enablement d'octobre, pas de pilote avant 2027.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FFB9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CONVICTION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417320"/>
            <a:ext cx="7772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Le vibe coding</a:t>
            </a:r>
            <a:endParaRPr lang="en-US" sz="40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ne s'interdit pas.</a:t>
            </a:r>
            <a:endParaRPr lang="en-US" sz="40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Il s'industrialise</a:t>
            </a:r>
            <a:pPr indent="0" marL="0">
              <a:lnSpc>
                <a:spcPct val="106000"/>
              </a:lnSpc>
              <a:buNone/>
            </a:pPr>
            <a:r>
              <a:rPr lang="en-US" sz="4000" b="1" dirty="0">
                <a:solidFill>
                  <a:srgbClr val="FFB95C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639312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1F1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Équipe projet Vibe Guard · CTO &amp; ED · Direction des Alliances &amp; Partenariats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4005072"/>
            <a:ext cx="2788920" cy="384048"/>
          </a:xfrm>
          <a:prstGeom prst="rect">
            <a:avLst/>
          </a:prstGeom>
          <a:solidFill>
            <a:srgbClr val="FFB95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005072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70" kern="0" dirty="0">
                <a:solidFill>
                  <a:srgbClr val="5D3A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DÉMONSTRATION EN SÉANCE →</a:t>
            </a:r>
            <a:endParaRPr lang="en-US" sz="1100" dirty="0"/>
          </a:p>
        </p:txBody>
      </p:sp>
      <p:pic>
        <p:nvPicPr>
          <p:cNvPr id="7" name="Image 0" descr="/Users/baptistepirault/.claude/skills/sfeir-brand-guidelines/assets/logo-sfeir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09160"/>
            <a:ext cx="54864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863840" y="4718304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84756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18 / 18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SFEIR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Note COMEX — Vibe Guard</dc:title>
  <dc:subject>PptxGenJS Presentation</dc:subject>
  <dc:creator>SFEIR</dc:creator>
  <cp:lastModifiedBy>SFEIR</cp:lastModifiedBy>
  <cp:revision>1</cp:revision>
  <dcterms:created xsi:type="dcterms:W3CDTF">2026-09-18T12:33:31Z</dcterms:created>
  <dcterms:modified xsi:type="dcterms:W3CDTF">2026-09-18T12:33:31Z</dcterms:modified>
</cp:coreProperties>
</file>