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95C"/>
                </a:solidFill>
                <a:latin typeface="Space Grotesk"/>
              </a:rPr>
              <a:t>SFEIR · OFFRE PARTENAIRE · SEPTEMBRE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3152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Epilogue"/>
              </a:rPr>
              <a:t>Sécuriser et industrialiser le Vibe Coding</a:t>
            </a:r>
            <a:r>
              <a:rPr sz="3600" b="1">
                <a:solidFill>
                  <a:srgbClr val="FFB95C"/>
                </a:solidFill>
                <a:latin typeface="Epilog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1F1F1"/>
                </a:solidFill>
                <a:latin typeface="Epilogue"/>
              </a:rPr>
              <a:t>Vibe Coding Security Assessment · SFEIR &amp; Google Cloud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63440"/>
            <a:ext cx="54864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95C"/>
                </a:solidFill>
                <a:latin typeface="Space Grotesk"/>
              </a:rPr>
              <a:t>CONVICTION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Epilogue"/>
              </a:rPr>
              <a:t>Créer à la vitesse de l'IA, déployer avec l'exigence du Cloud d'entreprise</a:t>
            </a:r>
            <a:r>
              <a:rPr sz="3200" b="1">
                <a:solidFill>
                  <a:srgbClr val="FFB95C"/>
                </a:solidFill>
                <a:latin typeface="Epilog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78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1F1"/>
                </a:solidFill>
                <a:latin typeface="Epilogue"/>
              </a:rPr>
              <a:t>Le vibe coding libère l'innovation métier. Mais sans gouvernance ni conformité automatisée, 9 prototypes sur 10 restent bloqués aux portes de la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60520"/>
            <a:ext cx="2437790" cy="411480"/>
          </a:xfrm>
          <a:prstGeom prst="rect">
            <a:avLst/>
          </a:prstGeom>
          <a:solidFill>
            <a:srgbClr val="FFB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5D3A00"/>
                </a:solidFill>
                <a:latin typeface="Space Grotesk"/>
              </a:rPr>
              <a:t>DIAGNOSTIC EN 48H →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63440"/>
            <a:ext cx="54864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6C93"/>
                </a:solidFill>
                <a:latin typeface="Space Grotesk"/>
              </a:rPr>
              <a:t>— 01 · LE RISQUE DU SHADOW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  <a:latin typeface="Epilogue"/>
              </a:rPr>
              <a:t>L'angle mort des applications générées par IA</a:t>
            </a:r>
            <a:r>
              <a:rPr sz="2600" b="1">
                <a:solidFill>
                  <a:srgbClr val="845400"/>
                </a:solidFill>
                <a:latin typeface="Epilog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0817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14536"/>
                </a:solidFill>
                <a:latin typeface="Epilogue"/>
              </a:rPr>
              <a:t>La vitesse permise par Cursor, Lovable ou Bolt se heurte aux politiques de sécurité d'entreprise.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02536"/>
            <a:ext cx="4937760" cy="26151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854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Vélocité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51176"/>
            <a:ext cx="4480560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Adoption massive des outils GenAI</a:t>
            </a:r>
            <a:r>
              <a:rPr sz="1100" b="0">
                <a:solidFill>
                  <a:srgbClr val="1B1B1B"/>
                </a:solidFill>
                <a:latin typeface="Epilogue"/>
              </a:rPr>
              <a:t> par les développeurs et les équipes produit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Des prototypes fonctionnels créés en quelques heures</a:t>
            </a:r>
            <a:r>
              <a:rPr sz="1100" b="0">
                <a:solidFill>
                  <a:srgbClr val="1B1B1B"/>
                </a:solidFill>
                <a:latin typeface="Epilogue"/>
              </a:rPr>
              <a:t> sans solliciter l'ingénierie centrale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Frustration aiguë face aux délais traditionnels d'homologation de sécurité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2002536"/>
            <a:ext cx="2926080" cy="26151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2185416"/>
            <a:ext cx="246888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Vulnérabilités Critiques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784856"/>
            <a:ext cx="2468880" cy="1649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Clés d'API en clair</a:t>
            </a:r>
            <a:r>
              <a:rPr sz="1100" b="0">
                <a:solidFill>
                  <a:srgbClr val="1B1B1B"/>
                </a:solidFill>
                <a:latin typeface="Epilogue"/>
              </a:rPr>
              <a:t> dans le code source ou fichiers d'environnement versionnés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Absence d'authentification managée</a:t>
            </a:r>
            <a:r>
              <a:rPr sz="1100" b="0">
                <a:solidFill>
                  <a:srgbClr val="1B1B1B"/>
                </a:solidFill>
                <a:latin typeface="Epilogue"/>
              </a:rPr>
              <a:t> et conteneurs root exposés sur Internet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Appels LLM non bridés</a:t>
            </a:r>
            <a:r>
              <a:rPr sz="1100" b="0">
                <a:solidFill>
                  <a:srgbClr val="1B1B1B"/>
                </a:solidFill>
                <a:latin typeface="Epilogue"/>
              </a:rPr>
              <a:t> sans passerelle gouvernée, risque d'injection et de surcoûts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548640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14536"/>
                </a:solidFill>
                <a:latin typeface="Space Grotesk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4226"/>
                </a:solidFill>
                <a:latin typeface="Space Grotesk"/>
              </a:rPr>
              <a:t>— 02 · DÉMARCHE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  <a:latin typeface="Epilogue"/>
              </a:rPr>
              <a:t>Un diagnostic complet en 48 heures</a:t>
            </a:r>
            <a:r>
              <a:rPr sz="2600" b="1">
                <a:solidFill>
                  <a:srgbClr val="845400"/>
                </a:solidFill>
                <a:latin typeface="Epilogue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46504"/>
            <a:ext cx="8229600" cy="13716"/>
          </a:xfrm>
          <a:prstGeom prst="rect">
            <a:avLst/>
          </a:prstGeom>
          <a:solidFill>
            <a:srgbClr val="EF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8872" cy="118872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4226"/>
                </a:solidFill>
                <a:latin typeface="Space Grotes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2807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1B1B"/>
                </a:solidFill>
                <a:latin typeface="Epilogue"/>
              </a:rPr>
              <a:t>Jour 1 : Cadrage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14536"/>
                </a:solidFill>
                <a:latin typeface="Space Grotesk"/>
              </a:rPr>
              <a:t>1 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B1B1B"/>
                </a:solidFill>
                <a:latin typeface="Epilogue"/>
              </a:rPr>
              <a:t>–  Cartographie des applications et prototypes IA cibles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1B1B"/>
                </a:solidFill>
                <a:latin typeface="Epilogue"/>
              </a:rPr>
              <a:t>–  Déploiement éphémère de Vibe Guard dans le projet GCP client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1B1B"/>
                </a:solidFill>
                <a:latin typeface="Epilogue"/>
              </a:rPr>
              <a:t>–  Validation des accès dépôts de code en isolation stricte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91640"/>
            <a:ext cx="118872" cy="118872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258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4226"/>
                </a:solidFill>
                <a:latin typeface="Space Grotes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92807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1B1B"/>
                </a:solidFill>
                <a:latin typeface="Epilogue"/>
              </a:rPr>
              <a:t>Jour 2 : Scan &amp; 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402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14536"/>
                </a:solidFill>
                <a:latin typeface="Space Grotesk"/>
              </a:rPr>
              <a:t>1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46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B1B1B"/>
                </a:solidFill>
                <a:latin typeface="Epilogue"/>
              </a:rPr>
              <a:t>–  Analyse statique déterministe Semgrep &amp; Gitleaks (Zero-Egress)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1B1B"/>
                </a:solidFill>
                <a:latin typeface="Epilogue"/>
              </a:rPr>
              <a:t>–  Audit des 4 familles : AUTH, SECRETS, LLM-GOV, NET-ISO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1B1B"/>
                </a:solidFill>
                <a:latin typeface="Epilogue"/>
              </a:rPr>
              <a:t>–  Enrichissement par Gemini 3.8 Flash pour les remédiations 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691640"/>
            <a:ext cx="118872" cy="118872"/>
          </a:xfrm>
          <a:prstGeom prst="rect">
            <a:avLst/>
          </a:prstGeom>
          <a:solidFill>
            <a:srgbClr val="6B4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3258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4226"/>
                </a:solidFill>
                <a:latin typeface="Space Grotes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92807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1B1B"/>
                </a:solidFill>
                <a:latin typeface="Epilogue"/>
              </a:rPr>
              <a:t>Jour 3 : Restitution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2402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14536"/>
                </a:solidFill>
                <a:latin typeface="Space Grotesk"/>
              </a:rPr>
              <a:t>1 JOUR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51460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B1B1B"/>
                </a:solidFill>
                <a:latin typeface="Epilogue"/>
              </a:rPr>
              <a:t>–  Restitution exécutive pour le CISO, le CTO et les équipes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1B1B"/>
                </a:solidFill>
                <a:latin typeface="Epilogue"/>
              </a:rPr>
              <a:t>–  Remise des scripts Terraform et spécifications Cloud Run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B1B1B"/>
                </a:solidFill>
                <a:latin typeface="Epilogue"/>
              </a:rPr>
              <a:t>–  Feuille de route d'industrialisation continue et support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548640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14536"/>
                </a:solidFill>
                <a:latin typeface="Space Grotesk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8B57"/>
                </a:solidFill>
                <a:latin typeface="Space Grotesk"/>
              </a:rPr>
              <a:t>— 03 · LIVRABLES CONCRETS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  <a:latin typeface="Epilogue"/>
              </a:rPr>
              <a:t>Des livrables actionnables, pas un audit théorique</a:t>
            </a:r>
            <a:r>
              <a:rPr sz="2600" b="1">
                <a:solidFill>
                  <a:srgbClr val="845400"/>
                </a:solidFill>
                <a:latin typeface="Epilog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0817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14536"/>
                </a:solidFill>
                <a:latin typeface="Epilogue"/>
              </a:rPr>
              <a:t>Chaque anomalie détectée est accompagnée de sa solution d'architecture prête à être déployée.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02536"/>
            <a:ext cx="2651760" cy="26151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85416"/>
            <a:ext cx="21945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Dashboard Exécutif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4856"/>
            <a:ext cx="2194560" cy="1649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Matrice des risques priorisés</a:t>
            </a:r>
            <a:r>
              <a:rPr sz="1100" b="0">
                <a:solidFill>
                  <a:srgbClr val="1B1B1B"/>
                </a:solidFill>
                <a:latin typeface="Epilogue"/>
              </a:rPr>
              <a:t> par niveau de sévérité (P0 à P3)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Score d'exposition et d'auditabilité pour les comités de sécurité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Cartographie consolidée du Shadow AI au sein de l'organisation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002536"/>
            <a:ext cx="2651760" cy="26151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85416"/>
            <a:ext cx="21945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Pack Remédiation GCP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84856"/>
            <a:ext cx="2194560" cy="1649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Code Terraform prêt à l'emploi</a:t>
            </a:r>
            <a:r>
              <a:rPr sz="1100" b="0">
                <a:solidFill>
                  <a:srgbClr val="1B1B1B"/>
                </a:solidFill>
                <a:latin typeface="Epilogue"/>
              </a:rPr>
              <a:t> pour les ressources cibles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Spécifications </a:t>
            </a:r>
            <a:r>
              <a:rPr sz="1100" b="1">
                <a:solidFill>
                  <a:srgbClr val="1B1B1B"/>
                </a:solidFill>
                <a:latin typeface="Epilogue"/>
              </a:rPr>
              <a:t>Cloud Run sécurisées</a:t>
            </a:r>
            <a:r>
              <a:rPr sz="1100" b="0">
                <a:solidFill>
                  <a:srgbClr val="1B1B1B"/>
                </a:solidFill>
                <a:latin typeface="Epilogue"/>
              </a:rPr>
              <a:t> avec non-root et isolation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Intégration automatique de </a:t>
            </a:r>
            <a:r>
              <a:rPr sz="1100" b="1">
                <a:solidFill>
                  <a:srgbClr val="1B1B1B"/>
                </a:solidFill>
                <a:latin typeface="Epilogue"/>
              </a:rPr>
              <a:t>Secret Manager</a:t>
            </a:r>
            <a:r>
              <a:rPr sz="1100" b="0">
                <a:solidFill>
                  <a:srgbClr val="1B1B1B"/>
                </a:solidFill>
                <a:latin typeface="Epilogue"/>
              </a:rPr>
              <a:t> et </a:t>
            </a:r>
            <a:r>
              <a:rPr sz="1100" b="1">
                <a:solidFill>
                  <a:srgbClr val="1B1B1B"/>
                </a:solidFill>
                <a:latin typeface="Epilogue"/>
              </a:rPr>
              <a:t>Identity-Aware Proxy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02536"/>
            <a:ext cx="2651760" cy="26151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85416"/>
            <a:ext cx="21945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Roadmap Industrielle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84856"/>
            <a:ext cx="2194560" cy="1649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Plan d'intégration continue dans vos pipelines CI/CD Cloud Build / GitLab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Déploiement de Vibe Guard dans votre </a:t>
            </a:r>
            <a:r>
              <a:rPr sz="1100" b="1">
                <a:solidFill>
                  <a:srgbClr val="1B1B1B"/>
                </a:solidFill>
                <a:latin typeface="Epilogue"/>
              </a:rPr>
              <a:t>Gemini Enterprise App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Recommandations de gouvernance pour les porteurs d'initiatives IA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54864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14536"/>
                </a:solidFill>
                <a:latin typeface="Space Grotesk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B95C"/>
                </a:solidFill>
                <a:latin typeface="Epilogue"/>
              </a:rPr>
              <a:t>48h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B95C"/>
                </a:solidFill>
                <a:latin typeface="Space Grotesk"/>
              </a:rPr>
              <a:t>DÉLAI DE RESTITUTION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1F1"/>
                </a:solidFill>
                <a:latin typeface="Epilogue"/>
              </a:rPr>
              <a:t>Du cadrage initial à la remise des scripts de remédiation GCP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801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B95C"/>
                </a:solidFill>
                <a:latin typeface="Epilogue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834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B95C"/>
                </a:solidFill>
                <a:latin typeface="Space Grotesk"/>
              </a:rPr>
              <a:t>ZERO-EGRESS &amp; SOUVERAIN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291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1F1"/>
                </a:solidFill>
                <a:latin typeface="Epilogue"/>
              </a:rPr>
              <a:t>Exécution intégrale au sein du tenant Google Cloud privé du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B95C"/>
                </a:solidFill>
                <a:latin typeface="Epilogue"/>
              </a:rPr>
              <a:t>18h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834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B95C"/>
                </a:solidFill>
                <a:latin typeface="Space Grotesk"/>
              </a:rPr>
              <a:t>ÉCONOMIE D'INGÉNIERIE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91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1F1"/>
                </a:solidFill>
                <a:latin typeface="Epilogue"/>
              </a:rPr>
              <a:t>Gagnées en moyenne par prototype audité et sécurisé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54864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45400"/>
                </a:solidFill>
                <a:latin typeface="Space Grotesk"/>
              </a:rPr>
              <a:t>— 04 · ATOUTS SFEIR &amp; GOOGLE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  <a:latin typeface="Epilogue"/>
              </a:rPr>
              <a:t>Pourquoi cette offre débloque immédiatement les projets</a:t>
            </a:r>
            <a:r>
              <a:rPr sz="2600" b="1">
                <a:solidFill>
                  <a:srgbClr val="845400"/>
                </a:solidFill>
                <a:latin typeface="Epilogue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45336"/>
            <a:ext cx="2651760" cy="30723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28216"/>
            <a:ext cx="21945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Budget Zéro Friction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27656"/>
            <a:ext cx="2194560" cy="210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Financement 100 % déductible</a:t>
            </a:r>
            <a:r>
              <a:rPr sz="1100" b="0">
                <a:solidFill>
                  <a:srgbClr val="1B1B1B"/>
                </a:solidFill>
                <a:latin typeface="Epilogue"/>
              </a:rPr>
              <a:t> de vos engagements </a:t>
            </a:r>
            <a:r>
              <a:rPr sz="1100" b="1">
                <a:solidFill>
                  <a:srgbClr val="1B1B1B"/>
                </a:solidFill>
                <a:latin typeface="Epilogue"/>
              </a:rPr>
              <a:t>EDP Google Cloud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Achat simplifié via </a:t>
            </a:r>
            <a:r>
              <a:rPr sz="1100" b="1">
                <a:solidFill>
                  <a:srgbClr val="1B1B1B"/>
                </a:solidFill>
                <a:latin typeface="Epilogue"/>
              </a:rPr>
              <a:t>Private Offer (CPPO)</a:t>
            </a:r>
            <a:r>
              <a:rPr sz="1100" b="0">
                <a:solidFill>
                  <a:srgbClr val="1B1B1B"/>
                </a:solidFill>
                <a:latin typeface="Epilogue"/>
              </a:rPr>
              <a:t> sur GCP Marketplace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Aucune ouverture de compte fournisseur ni ligne budgétaire neuve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545336"/>
            <a:ext cx="2651760" cy="30723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28216"/>
            <a:ext cx="21945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Souveraineté &amp; Conformité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27656"/>
            <a:ext cx="2194560" cy="210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Aucun code ne quitte votre VPC</a:t>
            </a:r>
            <a:r>
              <a:rPr sz="1100" b="0">
                <a:solidFill>
                  <a:srgbClr val="1B1B1B"/>
                </a:solidFill>
                <a:latin typeface="Epilogue"/>
              </a:rPr>
              <a:t> : conteneurs Cloud Run privés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Support complet de </a:t>
            </a:r>
            <a:r>
              <a:rPr sz="1100" b="1">
                <a:solidFill>
                  <a:srgbClr val="1B1B1B"/>
                </a:solidFill>
                <a:latin typeface="Epilogue"/>
              </a:rPr>
              <a:t>VPC Service Controls</a:t>
            </a:r>
            <a:r>
              <a:rPr sz="1100" b="0">
                <a:solidFill>
                  <a:srgbClr val="1B1B1B"/>
                </a:solidFill>
                <a:latin typeface="Epilogue"/>
              </a:rPr>
              <a:t> et des clés </a:t>
            </a:r>
            <a:r>
              <a:rPr sz="1100" b="1">
                <a:solidFill>
                  <a:srgbClr val="1B1B1B"/>
                </a:solidFill>
                <a:latin typeface="Epilogue"/>
              </a:rPr>
              <a:t>CMEK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Garantie stricte de non-entraînement des modèles sur votre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45336"/>
            <a:ext cx="2651760" cy="30723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28216"/>
            <a:ext cx="219456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Canal Gemini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27656"/>
            <a:ext cx="2194560" cy="210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Utilisation fluide dans la </a:t>
            </a:r>
            <a:r>
              <a:rPr sz="1100" b="1">
                <a:solidFill>
                  <a:srgbClr val="1B1B1B"/>
                </a:solidFill>
                <a:latin typeface="Epilogue"/>
              </a:rPr>
              <a:t>Gemini Enterprise App</a:t>
            </a:r>
            <a:r>
              <a:rPr sz="1100" b="0">
                <a:solidFill>
                  <a:srgbClr val="1B1B1B"/>
                </a:solidFill>
                <a:latin typeface="Epilogue"/>
              </a:rPr>
              <a:t> déployée chez vous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Audit en langage naturel accessible aux Citizen Developers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SFEIR : Partenaire Premier et référence d'intégration GenAI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548640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14536"/>
                </a:solidFill>
                <a:latin typeface="Space Grotesk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5A040"/>
                </a:solidFill>
                <a:latin typeface="Space Grotesk"/>
              </a:rPr>
              <a:t>— 05 · MODALITÉS COMMERCIALES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  <a:latin typeface="Epilogue"/>
              </a:rPr>
              <a:t>Une trajectoire d'industrialisation claire</a:t>
            </a:r>
            <a:r>
              <a:rPr sz="2600" b="1">
                <a:solidFill>
                  <a:srgbClr val="845400"/>
                </a:solidFill>
                <a:latin typeface="Epilogue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45336"/>
            <a:ext cx="8229600" cy="3291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45336"/>
            <a:ext cx="1349070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900" b="1">
                <a:solidFill>
                  <a:srgbClr val="F1F1F1"/>
                </a:solidFill>
                <a:latin typeface="Space Grotesk"/>
              </a:rPr>
              <a:t>FORMULE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6270" y="1545336"/>
            <a:ext cx="3131771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900" b="1">
                <a:solidFill>
                  <a:srgbClr val="F1F1F1"/>
                </a:solidFill>
                <a:latin typeface="Space Grotesk"/>
              </a:rPr>
              <a:t>PÉRIMÈTRE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8042" y="1545336"/>
            <a:ext cx="568804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900" b="1">
                <a:solidFill>
                  <a:srgbClr val="F1F1F1"/>
                </a:solidFill>
                <a:latin typeface="Space Grotesk"/>
              </a:rPr>
              <a:t>DURÉE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6847" y="1545336"/>
            <a:ext cx="1156346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900" b="1">
                <a:solidFill>
                  <a:srgbClr val="F1F1F1"/>
                </a:solidFill>
                <a:latin typeface="Space Grotesk"/>
              </a:rPr>
              <a:t>FACTURATION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3193" y="1545336"/>
            <a:ext cx="2023606" cy="329184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900" b="1">
                <a:solidFill>
                  <a:srgbClr val="F1F1F1"/>
                </a:solidFill>
                <a:latin typeface="Space Grotesk"/>
              </a:rPr>
              <a:t>OBJECTIF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8229600" cy="45262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1349070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Assessment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6270" y="1874519"/>
            <a:ext cx="3131771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Audit de 3 à 5 prototypes IA, rapport CISO + scripts GCP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8042" y="1874519"/>
            <a:ext cx="568804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2 à 3 jours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6847" y="1874519"/>
            <a:ext cx="1156346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3 000 € à 4 500 € 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3193" y="1874519"/>
            <a:ext cx="2023606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Déblocage immédiat de la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27148"/>
            <a:ext cx="1349070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Vibe Guard Enterprise (CPPO)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6270" y="2327148"/>
            <a:ext cx="3131771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Scans illimités, règles custom, intégration Gemini App, SLA SFEIR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8042" y="2327148"/>
            <a:ext cx="568804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Annuel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6847" y="2327148"/>
            <a:ext cx="1156346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25 k€ à 75 k€ / an (EDP)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3193" y="2327148"/>
            <a:ext cx="2023606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Gouvernance continue du vibe coding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79776"/>
            <a:ext cx="8229600" cy="45262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79776"/>
            <a:ext cx="1349070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Build &amp; Accompagnement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6270" y="2779776"/>
            <a:ext cx="3131771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Intégration CI/CD, migration GCP, formation des équipes SecOps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8042" y="2779776"/>
            <a:ext cx="568804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Sur-mesure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6847" y="2779776"/>
            <a:ext cx="1156346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Prestation SFEIR (EDP)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3193" y="2779776"/>
            <a:ext cx="2023606" cy="45262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r>
              <a:rPr sz="1000" b="0">
                <a:solidFill>
                  <a:srgbClr val="1B1B1B"/>
                </a:solidFill>
                <a:latin typeface="Epilogue"/>
              </a:rPr>
              <a:t>Passage à l'échelle de la Software Factory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872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14536"/>
                </a:solidFill>
                <a:latin typeface="Space Grotesk"/>
              </a:rPr>
              <a:t>Toutes les formules sont éligibles au tirage sur engagements EDP (Enterprise Discount Program) via Google Cloud Marketplace.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54864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14536"/>
                </a:solidFill>
                <a:latin typeface="Space Grotesk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E8B"/>
                </a:solidFill>
                <a:latin typeface="Space Grotesk"/>
              </a:rPr>
              <a:t>— 06 · SIGNAUX D'ACHAT &amp; DÉCLENCHEURS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  <a:latin typeface="Epilogue"/>
              </a:rPr>
              <a:t>Quand proposer le Vibe Coding Assessment</a:t>
            </a:r>
            <a:r>
              <a:rPr sz="2600" b="1">
                <a:solidFill>
                  <a:srgbClr val="845400"/>
                </a:solidFill>
                <a:latin typeface="Epilogue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45336"/>
            <a:ext cx="4937760" cy="30723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282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Moments Charnières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93976"/>
            <a:ext cx="4480560" cy="234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Organisation d'un hackathon interne</a:t>
            </a:r>
            <a:r>
              <a:rPr sz="1100" b="0">
                <a:solidFill>
                  <a:srgbClr val="1B1B1B"/>
                </a:solidFill>
                <a:latin typeface="Epilogue"/>
              </a:rPr>
              <a:t> ou incubation de POCs IA métier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Blocage sécurité (CISO/RSSI)</a:t>
            </a:r>
            <a:r>
              <a:rPr sz="1100" b="0">
                <a:solidFill>
                  <a:srgbClr val="1B1B1B"/>
                </a:solidFill>
                <a:latin typeface="Epilogue"/>
              </a:rPr>
              <a:t> sur un prototype stratégique à fort enjeu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Découverte d'applications non gouvernées (*Shadow AI*) par les SRE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1545336"/>
            <a:ext cx="2926080" cy="307238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728216"/>
            <a:ext cx="246888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  <a:latin typeface="Epilogue"/>
              </a:rPr>
              <a:t>Leviers Budgétaires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327656"/>
            <a:ext cx="2468880" cy="210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</a:t>
            </a:r>
            <a:r>
              <a:rPr sz="1100" b="1">
                <a:solidFill>
                  <a:srgbClr val="1B1B1B"/>
                </a:solidFill>
                <a:latin typeface="Epilogue"/>
              </a:rPr>
              <a:t>Crédits d'engagements Google Cloud (EDP)</a:t>
            </a:r>
            <a:r>
              <a:rPr sz="1100" b="0">
                <a:solidFill>
                  <a:srgbClr val="1B1B1B"/>
                </a:solidFill>
                <a:latin typeface="Epilogue"/>
              </a:rPr>
              <a:t> à consommer avant clôture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Recherche d'outils d'audit automatisés sans alourdir la charge des équipes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1B1B1B"/>
                </a:solidFill>
                <a:latin typeface="Epilogue"/>
              </a:rPr>
              <a:t>–  Projet de déploiement d'une </a:t>
            </a:r>
            <a:r>
              <a:rPr sz="1100" b="1">
                <a:solidFill>
                  <a:srgbClr val="1B1B1B"/>
                </a:solidFill>
                <a:latin typeface="Epilogue"/>
              </a:rPr>
              <a:t>Gemini Enterprise App</a:t>
            </a:r>
            <a:r>
              <a:rPr sz="1100" b="0">
                <a:solidFill>
                  <a:srgbClr val="1B1B1B"/>
                </a:solidFill>
                <a:latin typeface="Epilogue"/>
              </a:rPr>
              <a:t> souveraine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54864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47548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14536"/>
                </a:solidFill>
                <a:latin typeface="Space Grotesk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0"/>
            <a:ext cx="82296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Epilogue"/>
              </a:rPr>
              <a:t>Industrialisons vos applications IA dès maintenant</a:t>
            </a:r>
            <a:r>
              <a:rPr sz="4000" b="1">
                <a:solidFill>
                  <a:srgbClr val="FFB95C"/>
                </a:solidFill>
                <a:latin typeface="Epilogue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68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1F1"/>
                </a:solidFill>
                <a:latin typeface="Epilogue"/>
              </a:rPr>
              <a:t>vibe-guard-team@sfeir.com · sfeir.com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60520"/>
            <a:ext cx="3280410" cy="411480"/>
          </a:xfrm>
          <a:prstGeom prst="rect">
            <a:avLst/>
          </a:prstGeom>
          <a:solidFill>
            <a:srgbClr val="FFB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5D3A00"/>
                </a:solidFill>
                <a:latin typeface="Space Grotesk"/>
              </a:rPr>
              <a:t>PLANIFIER UN ASSESSMENT →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63440"/>
            <a:ext cx="548640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